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13716000" cx="24384000"/>
  <p:notesSz cx="6858000" cy="9144000"/>
  <p:embeddedFontLst>
    <p:embeddedFont>
      <p:font typeface="Helvetica Neue Light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4" roundtripDataSignature="AMtx7mh2CRlkS1viCs0W4Jjl097+M7u+L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EA120D1-2538-4997-85D9-E25CA01775BE}">
  <a:tblStyle styleId="{8EA120D1-2538-4997-85D9-E25CA01775BE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HelveticaNeueLight-regular.fntdata"/><Relationship Id="rId11" Type="http://schemas.openxmlformats.org/officeDocument/2006/relationships/slide" Target="slides/slide5.xml"/><Relationship Id="rId22" Type="http://schemas.openxmlformats.org/officeDocument/2006/relationships/font" Target="fonts/HelveticaNeueLight-italic.fntdata"/><Relationship Id="rId10" Type="http://schemas.openxmlformats.org/officeDocument/2006/relationships/slide" Target="slides/slide4.xml"/><Relationship Id="rId21" Type="http://schemas.openxmlformats.org/officeDocument/2006/relationships/font" Target="fonts/HelveticaNeueLight-bold.fntdata"/><Relationship Id="rId13" Type="http://schemas.openxmlformats.org/officeDocument/2006/relationships/slide" Target="slides/slide7.xml"/><Relationship Id="rId24" Type="http://customschemas.google.com/relationships/presentationmetadata" Target="metadata"/><Relationship Id="rId12" Type="http://schemas.openxmlformats.org/officeDocument/2006/relationships/slide" Target="slides/slide6.xml"/><Relationship Id="rId23" Type="http://schemas.openxmlformats.org/officeDocument/2006/relationships/font" Target="fonts/HelveticaNeueLight-boldItalic.fntdata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PH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dc4f193950_0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g3dc4f193950_0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dc4f193950_0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g3dc4f193950_0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dc4f193950_0_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g3dc4f193950_0_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dc4f193950_0_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g3dc4f193950_0_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dc4f193950_0_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g3dc4f193950_0_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0"/>
          <p:cNvSpPr txBox="1"/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0"/>
          <p:cNvSpPr txBox="1"/>
          <p:nvPr>
            <p:ph idx="1" type="subTitle"/>
          </p:nvPr>
        </p:nvSpPr>
        <p:spPr>
          <a:xfrm>
            <a:off x="1218960" y="3209400"/>
            <a:ext cx="21944880" cy="7954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6"/>
          <p:cNvSpPr txBox="1"/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" type="body"/>
          </p:nvPr>
        </p:nvSpPr>
        <p:spPr>
          <a:xfrm>
            <a:off x="1218960" y="3209400"/>
            <a:ext cx="21944880" cy="7954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7"/>
          <p:cNvSpPr txBox="1"/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7"/>
          <p:cNvSpPr txBox="1"/>
          <p:nvPr>
            <p:ph idx="1" type="body"/>
          </p:nvPr>
        </p:nvSpPr>
        <p:spPr>
          <a:xfrm>
            <a:off x="1218960" y="3209400"/>
            <a:ext cx="10708920" cy="7954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2" type="body"/>
          </p:nvPr>
        </p:nvSpPr>
        <p:spPr>
          <a:xfrm>
            <a:off x="12463560" y="3209400"/>
            <a:ext cx="10708920" cy="7954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8"/>
          <p:cNvSpPr txBox="1"/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9"/>
          <p:cNvSpPr txBox="1"/>
          <p:nvPr>
            <p:ph idx="1" type="subTitle"/>
          </p:nvPr>
        </p:nvSpPr>
        <p:spPr>
          <a:xfrm>
            <a:off x="1218960" y="547200"/>
            <a:ext cx="21944880" cy="10616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0"/>
          <p:cNvSpPr txBox="1"/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0"/>
          <p:cNvSpPr txBox="1"/>
          <p:nvPr>
            <p:ph idx="1" type="body"/>
          </p:nvPr>
        </p:nvSpPr>
        <p:spPr>
          <a:xfrm>
            <a:off x="1218960" y="3209400"/>
            <a:ext cx="1070892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2" type="body"/>
          </p:nvPr>
        </p:nvSpPr>
        <p:spPr>
          <a:xfrm>
            <a:off x="1218960" y="7364520"/>
            <a:ext cx="1070892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20"/>
          <p:cNvSpPr txBox="1"/>
          <p:nvPr>
            <p:ph idx="3" type="body"/>
          </p:nvPr>
        </p:nvSpPr>
        <p:spPr>
          <a:xfrm>
            <a:off x="12463560" y="3209400"/>
            <a:ext cx="10708920" cy="7954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1"/>
          <p:cNvSpPr txBox="1"/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1"/>
          <p:cNvSpPr txBox="1"/>
          <p:nvPr>
            <p:ph idx="1" type="body"/>
          </p:nvPr>
        </p:nvSpPr>
        <p:spPr>
          <a:xfrm>
            <a:off x="1218960" y="3209400"/>
            <a:ext cx="10708920" cy="7954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1"/>
          <p:cNvSpPr txBox="1"/>
          <p:nvPr>
            <p:ph idx="2" type="body"/>
          </p:nvPr>
        </p:nvSpPr>
        <p:spPr>
          <a:xfrm>
            <a:off x="12463560" y="3209400"/>
            <a:ext cx="1070892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3" type="body"/>
          </p:nvPr>
        </p:nvSpPr>
        <p:spPr>
          <a:xfrm>
            <a:off x="12463560" y="7364520"/>
            <a:ext cx="1070892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2"/>
          <p:cNvSpPr txBox="1"/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2"/>
          <p:cNvSpPr txBox="1"/>
          <p:nvPr>
            <p:ph idx="1" type="body"/>
          </p:nvPr>
        </p:nvSpPr>
        <p:spPr>
          <a:xfrm>
            <a:off x="1218960" y="3209400"/>
            <a:ext cx="1070892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2"/>
          <p:cNvSpPr txBox="1"/>
          <p:nvPr>
            <p:ph idx="2" type="body"/>
          </p:nvPr>
        </p:nvSpPr>
        <p:spPr>
          <a:xfrm>
            <a:off x="12463560" y="3209400"/>
            <a:ext cx="1070892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22"/>
          <p:cNvSpPr txBox="1"/>
          <p:nvPr>
            <p:ph idx="3" type="body"/>
          </p:nvPr>
        </p:nvSpPr>
        <p:spPr>
          <a:xfrm>
            <a:off x="1218960" y="7364520"/>
            <a:ext cx="2194488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3"/>
          <p:cNvSpPr txBox="1"/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3"/>
          <p:cNvSpPr txBox="1"/>
          <p:nvPr>
            <p:ph idx="1" type="body"/>
          </p:nvPr>
        </p:nvSpPr>
        <p:spPr>
          <a:xfrm>
            <a:off x="1218960" y="3209400"/>
            <a:ext cx="2194488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23"/>
          <p:cNvSpPr txBox="1"/>
          <p:nvPr>
            <p:ph idx="2" type="body"/>
          </p:nvPr>
        </p:nvSpPr>
        <p:spPr>
          <a:xfrm>
            <a:off x="1218960" y="7364520"/>
            <a:ext cx="2194488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4"/>
          <p:cNvSpPr txBox="1"/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4"/>
          <p:cNvSpPr txBox="1"/>
          <p:nvPr>
            <p:ph idx="1" type="body"/>
          </p:nvPr>
        </p:nvSpPr>
        <p:spPr>
          <a:xfrm>
            <a:off x="1218960" y="3209400"/>
            <a:ext cx="1070892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24"/>
          <p:cNvSpPr txBox="1"/>
          <p:nvPr>
            <p:ph idx="2" type="body"/>
          </p:nvPr>
        </p:nvSpPr>
        <p:spPr>
          <a:xfrm>
            <a:off x="12463560" y="3209400"/>
            <a:ext cx="1070892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24"/>
          <p:cNvSpPr txBox="1"/>
          <p:nvPr>
            <p:ph idx="3" type="body"/>
          </p:nvPr>
        </p:nvSpPr>
        <p:spPr>
          <a:xfrm>
            <a:off x="12463560" y="7364520"/>
            <a:ext cx="1070892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24"/>
          <p:cNvSpPr txBox="1"/>
          <p:nvPr>
            <p:ph idx="4" type="body"/>
          </p:nvPr>
        </p:nvSpPr>
        <p:spPr>
          <a:xfrm>
            <a:off x="1218960" y="7364520"/>
            <a:ext cx="1070892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5"/>
          <p:cNvSpPr txBox="1"/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5"/>
          <p:cNvSpPr txBox="1"/>
          <p:nvPr>
            <p:ph idx="1" type="body"/>
          </p:nvPr>
        </p:nvSpPr>
        <p:spPr>
          <a:xfrm>
            <a:off x="1218960" y="3209400"/>
            <a:ext cx="21944880" cy="7954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25"/>
          <p:cNvSpPr txBox="1"/>
          <p:nvPr>
            <p:ph idx="2" type="body"/>
          </p:nvPr>
        </p:nvSpPr>
        <p:spPr>
          <a:xfrm>
            <a:off x="1218960" y="3209400"/>
            <a:ext cx="21944880" cy="7954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58" name="Google Shape;58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06120" y="3209040"/>
            <a:ext cx="9970200" cy="7954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06120" y="3209040"/>
            <a:ext cx="9970200" cy="7954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2"/>
          <p:cNvSpPr txBox="1"/>
          <p:nvPr>
            <p:ph idx="1" type="body"/>
          </p:nvPr>
        </p:nvSpPr>
        <p:spPr>
          <a:xfrm>
            <a:off x="533399" y="2506661"/>
            <a:ext cx="22174198" cy="96099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12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8" name="Google Shape;68;p12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9" name="Google Shape;69;p12"/>
          <p:cNvSpPr txBox="1"/>
          <p:nvPr>
            <p:ph idx="12" type="sldNum"/>
          </p:nvPr>
        </p:nvSpPr>
        <p:spPr>
          <a:xfrm>
            <a:off x="11959200" y="13080960"/>
            <a:ext cx="452880" cy="4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50750" lIns="50750" spcFirstLastPara="1" rIns="50750" wrap="square" tIns="5075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  <p:pic>
        <p:nvPicPr>
          <p:cNvPr descr="Picture 1" id="70" name="Google Shape;70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599412"/>
            <a:ext cx="7086600" cy="219468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2"/>
          <p:cNvSpPr txBox="1"/>
          <p:nvPr>
            <p:ph idx="2" type="body"/>
          </p:nvPr>
        </p:nvSpPr>
        <p:spPr>
          <a:xfrm>
            <a:off x="533400" y="203200"/>
            <a:ext cx="22174200" cy="12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8000"/>
              <a:buNone/>
              <a:defRPr sz="8000">
                <a:solidFill>
                  <a:srgbClr val="FF0000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 type="title">
  <p:cSld name="TITLE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3"/>
          <p:cNvSpPr txBox="1"/>
          <p:nvPr>
            <p:ph type="ctrTitle"/>
          </p:nvPr>
        </p:nvSpPr>
        <p:spPr>
          <a:xfrm>
            <a:off x="3048000" y="2244726"/>
            <a:ext cx="18288000" cy="4775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ial"/>
              <a:buNone/>
              <a:defRPr sz="1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3"/>
          <p:cNvSpPr txBox="1"/>
          <p:nvPr>
            <p:ph idx="1" type="subTitle"/>
          </p:nvPr>
        </p:nvSpPr>
        <p:spPr>
          <a:xfrm>
            <a:off x="3048000" y="7204076"/>
            <a:ext cx="18288000" cy="33115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9pPr>
          </a:lstStyle>
          <a:p/>
        </p:txBody>
      </p:sp>
      <p:sp>
        <p:nvSpPr>
          <p:cNvPr id="75" name="Google Shape;75;p13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6" name="Google Shape;76;p13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7" name="Google Shape;77;p13"/>
          <p:cNvSpPr txBox="1"/>
          <p:nvPr>
            <p:ph idx="12" type="sldNum"/>
          </p:nvPr>
        </p:nvSpPr>
        <p:spPr>
          <a:xfrm>
            <a:off x="11959200" y="13080960"/>
            <a:ext cx="452880" cy="4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50750" lIns="50750" spcFirstLastPara="1" rIns="50750" wrap="square" tIns="5075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4"/>
          <p:cNvSpPr txBox="1"/>
          <p:nvPr>
            <p:ph idx="1" type="body"/>
          </p:nvPr>
        </p:nvSpPr>
        <p:spPr>
          <a:xfrm>
            <a:off x="1218960" y="3209400"/>
            <a:ext cx="21944880" cy="7954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7"/>
          <p:cNvSpPr txBox="1"/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7"/>
          <p:cNvSpPr txBox="1"/>
          <p:nvPr>
            <p:ph idx="1" type="subTitle"/>
          </p:nvPr>
        </p:nvSpPr>
        <p:spPr>
          <a:xfrm>
            <a:off x="1218960" y="3209400"/>
            <a:ext cx="21944880" cy="7954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8"/>
          <p:cNvSpPr txBox="1"/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8"/>
          <p:cNvSpPr txBox="1"/>
          <p:nvPr>
            <p:ph idx="1" type="body"/>
          </p:nvPr>
        </p:nvSpPr>
        <p:spPr>
          <a:xfrm>
            <a:off x="1218960" y="3209400"/>
            <a:ext cx="10708920" cy="7954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28"/>
          <p:cNvSpPr txBox="1"/>
          <p:nvPr>
            <p:ph idx="2" type="body"/>
          </p:nvPr>
        </p:nvSpPr>
        <p:spPr>
          <a:xfrm>
            <a:off x="12463560" y="3209400"/>
            <a:ext cx="10708920" cy="7954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9"/>
          <p:cNvSpPr txBox="1"/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0"/>
          <p:cNvSpPr txBox="1"/>
          <p:nvPr>
            <p:ph idx="1" type="subTitle"/>
          </p:nvPr>
        </p:nvSpPr>
        <p:spPr>
          <a:xfrm>
            <a:off x="1218960" y="547200"/>
            <a:ext cx="21944880" cy="10616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1"/>
          <p:cNvSpPr txBox="1"/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31"/>
          <p:cNvSpPr txBox="1"/>
          <p:nvPr>
            <p:ph idx="1" type="body"/>
          </p:nvPr>
        </p:nvSpPr>
        <p:spPr>
          <a:xfrm>
            <a:off x="1218960" y="3209400"/>
            <a:ext cx="1070892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6" name="Google Shape;96;p31"/>
          <p:cNvSpPr txBox="1"/>
          <p:nvPr>
            <p:ph idx="2" type="body"/>
          </p:nvPr>
        </p:nvSpPr>
        <p:spPr>
          <a:xfrm>
            <a:off x="1218960" y="7364520"/>
            <a:ext cx="1070892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7" name="Google Shape;97;p31"/>
          <p:cNvSpPr txBox="1"/>
          <p:nvPr>
            <p:ph idx="3" type="body"/>
          </p:nvPr>
        </p:nvSpPr>
        <p:spPr>
          <a:xfrm>
            <a:off x="12463560" y="3209400"/>
            <a:ext cx="10708920" cy="7954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2"/>
          <p:cNvSpPr txBox="1"/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32"/>
          <p:cNvSpPr txBox="1"/>
          <p:nvPr>
            <p:ph idx="1" type="body"/>
          </p:nvPr>
        </p:nvSpPr>
        <p:spPr>
          <a:xfrm>
            <a:off x="1218960" y="3209400"/>
            <a:ext cx="10708920" cy="7954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1" name="Google Shape;101;p32"/>
          <p:cNvSpPr txBox="1"/>
          <p:nvPr>
            <p:ph idx="2" type="body"/>
          </p:nvPr>
        </p:nvSpPr>
        <p:spPr>
          <a:xfrm>
            <a:off x="12463560" y="3209400"/>
            <a:ext cx="1070892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2" name="Google Shape;102;p32"/>
          <p:cNvSpPr txBox="1"/>
          <p:nvPr>
            <p:ph idx="3" type="body"/>
          </p:nvPr>
        </p:nvSpPr>
        <p:spPr>
          <a:xfrm>
            <a:off x="12463560" y="7364520"/>
            <a:ext cx="1070892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3"/>
          <p:cNvSpPr txBox="1"/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33"/>
          <p:cNvSpPr txBox="1"/>
          <p:nvPr>
            <p:ph idx="1" type="body"/>
          </p:nvPr>
        </p:nvSpPr>
        <p:spPr>
          <a:xfrm>
            <a:off x="1218960" y="3209400"/>
            <a:ext cx="1070892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6" name="Google Shape;106;p33"/>
          <p:cNvSpPr txBox="1"/>
          <p:nvPr>
            <p:ph idx="2" type="body"/>
          </p:nvPr>
        </p:nvSpPr>
        <p:spPr>
          <a:xfrm>
            <a:off x="12463560" y="3209400"/>
            <a:ext cx="1070892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7" name="Google Shape;107;p33"/>
          <p:cNvSpPr txBox="1"/>
          <p:nvPr>
            <p:ph idx="3" type="body"/>
          </p:nvPr>
        </p:nvSpPr>
        <p:spPr>
          <a:xfrm>
            <a:off x="1218960" y="7364520"/>
            <a:ext cx="2194488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4"/>
          <p:cNvSpPr txBox="1"/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34"/>
          <p:cNvSpPr txBox="1"/>
          <p:nvPr>
            <p:ph idx="1" type="body"/>
          </p:nvPr>
        </p:nvSpPr>
        <p:spPr>
          <a:xfrm>
            <a:off x="1218960" y="3209400"/>
            <a:ext cx="2194488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1" name="Google Shape;111;p34"/>
          <p:cNvSpPr txBox="1"/>
          <p:nvPr>
            <p:ph idx="2" type="body"/>
          </p:nvPr>
        </p:nvSpPr>
        <p:spPr>
          <a:xfrm>
            <a:off x="1218960" y="7364520"/>
            <a:ext cx="2194488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5"/>
          <p:cNvSpPr txBox="1"/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35"/>
          <p:cNvSpPr txBox="1"/>
          <p:nvPr>
            <p:ph idx="1" type="body"/>
          </p:nvPr>
        </p:nvSpPr>
        <p:spPr>
          <a:xfrm>
            <a:off x="1218960" y="3209400"/>
            <a:ext cx="1070892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5" name="Google Shape;115;p35"/>
          <p:cNvSpPr txBox="1"/>
          <p:nvPr>
            <p:ph idx="2" type="body"/>
          </p:nvPr>
        </p:nvSpPr>
        <p:spPr>
          <a:xfrm>
            <a:off x="12463560" y="3209400"/>
            <a:ext cx="1070892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6" name="Google Shape;116;p35"/>
          <p:cNvSpPr txBox="1"/>
          <p:nvPr>
            <p:ph idx="3" type="body"/>
          </p:nvPr>
        </p:nvSpPr>
        <p:spPr>
          <a:xfrm>
            <a:off x="12463560" y="7364520"/>
            <a:ext cx="1070892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7" name="Google Shape;117;p35"/>
          <p:cNvSpPr txBox="1"/>
          <p:nvPr>
            <p:ph idx="4" type="body"/>
          </p:nvPr>
        </p:nvSpPr>
        <p:spPr>
          <a:xfrm>
            <a:off x="1218960" y="7364520"/>
            <a:ext cx="10708920" cy="3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6"/>
          <p:cNvSpPr txBox="1"/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36"/>
          <p:cNvSpPr txBox="1"/>
          <p:nvPr>
            <p:ph idx="1" type="body"/>
          </p:nvPr>
        </p:nvSpPr>
        <p:spPr>
          <a:xfrm>
            <a:off x="1218960" y="3209400"/>
            <a:ext cx="21944880" cy="7954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1" name="Google Shape;121;p36"/>
          <p:cNvSpPr txBox="1"/>
          <p:nvPr>
            <p:ph idx="2" type="body"/>
          </p:nvPr>
        </p:nvSpPr>
        <p:spPr>
          <a:xfrm>
            <a:off x="1218960" y="3209400"/>
            <a:ext cx="21944880" cy="7954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22" name="Google Shape;122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06120" y="3209040"/>
            <a:ext cx="9970200" cy="7954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06120" y="3209040"/>
            <a:ext cx="9970200" cy="7954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/>
          <p:nvPr/>
        </p:nvSpPr>
        <p:spPr>
          <a:xfrm>
            <a:off x="303480" y="401400"/>
            <a:ext cx="23858280" cy="1793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9"/>
          <p:cNvSpPr txBox="1"/>
          <p:nvPr>
            <p:ph type="title"/>
          </p:nvPr>
        </p:nvSpPr>
        <p:spPr>
          <a:xfrm>
            <a:off x="1778040" y="2654280"/>
            <a:ext cx="20827800" cy="4292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" name="Google Shape;12;p9"/>
          <p:cNvSpPr txBox="1"/>
          <p:nvPr>
            <p:ph idx="1" type="body"/>
          </p:nvPr>
        </p:nvSpPr>
        <p:spPr>
          <a:xfrm>
            <a:off x="1778040" y="7074000"/>
            <a:ext cx="20827800" cy="1587240"/>
          </a:xfrm>
          <a:prstGeom prst="rect">
            <a:avLst/>
          </a:prstGeom>
          <a:noFill/>
          <a:ln>
            <a:noFill/>
          </a:ln>
        </p:spPr>
        <p:txBody>
          <a:bodyPr anchorCtr="0" anchor="t" bIns="50750" lIns="50750" spcFirstLastPara="1" rIns="50750" wrap="square" tIns="5075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9"/>
          <p:cNvSpPr txBox="1"/>
          <p:nvPr>
            <p:ph idx="12" type="sldNum"/>
          </p:nvPr>
        </p:nvSpPr>
        <p:spPr>
          <a:xfrm>
            <a:off x="11959200" y="13080960"/>
            <a:ext cx="452880" cy="4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50750" lIns="50750" spcFirstLastPara="1" rIns="50750" wrap="square" tIns="5075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buNone/>
              <a:defRPr b="0" i="0" sz="24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buNone/>
              <a:defRPr b="0" i="0" sz="24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buNone/>
              <a:defRPr b="0" i="0" sz="24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buNone/>
              <a:defRPr b="0" i="0" sz="24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buNone/>
              <a:defRPr b="0" i="0" sz="24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buNone/>
              <a:defRPr b="0" i="0" sz="24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buNone/>
              <a:defRPr b="0" i="0" sz="24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buNone/>
              <a:defRPr b="0" i="0" sz="24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buNone/>
              <a:defRPr b="0" i="0" sz="24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1"/>
          <p:cNvSpPr/>
          <p:nvPr/>
        </p:nvSpPr>
        <p:spPr>
          <a:xfrm>
            <a:off x="303480" y="401400"/>
            <a:ext cx="23858280" cy="1793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1"/>
          <p:cNvSpPr txBox="1"/>
          <p:nvPr>
            <p:ph idx="12" type="sldNum"/>
          </p:nvPr>
        </p:nvSpPr>
        <p:spPr>
          <a:xfrm>
            <a:off x="11959200" y="13080960"/>
            <a:ext cx="452880" cy="4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50750" lIns="50750" spcFirstLastPara="1" rIns="50750" wrap="square" tIns="5075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buNone/>
              <a:defRPr b="0" i="0" sz="24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buNone/>
              <a:defRPr b="0" i="0" sz="24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buNone/>
              <a:defRPr b="0" i="0" sz="24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buNone/>
              <a:defRPr b="0" i="0" sz="24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buNone/>
              <a:defRPr b="0" i="0" sz="24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buNone/>
              <a:defRPr b="0" i="0" sz="24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buNone/>
              <a:defRPr b="0" i="0" sz="24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buNone/>
              <a:defRPr b="0" i="0" sz="24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buNone/>
              <a:defRPr b="0" i="0" sz="24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1218960" y="3209400"/>
            <a:ext cx="21944880" cy="7954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5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5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0720" y="5106240"/>
            <a:ext cx="7618680" cy="7618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166960" y="1269000"/>
            <a:ext cx="6073560" cy="223596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"/>
          <p:cNvSpPr/>
          <p:nvPr/>
        </p:nvSpPr>
        <p:spPr>
          <a:xfrm>
            <a:off x="8957160" y="8915760"/>
            <a:ext cx="13797000" cy="19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PH" sz="6000"/>
              <a:t>Logix</a:t>
            </a:r>
            <a:r>
              <a:rPr b="0" i="0" lang="en-PH" sz="6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 </a:t>
            </a:r>
            <a:r>
              <a:rPr lang="en-PH" sz="6000"/>
              <a:t>EduTrack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"/>
          <p:cNvSpPr/>
          <p:nvPr/>
        </p:nvSpPr>
        <p:spPr>
          <a:xfrm>
            <a:off x="8957160" y="7900200"/>
            <a:ext cx="7463940" cy="10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6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High-Level Design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"/>
          <p:cNvSpPr txBox="1"/>
          <p:nvPr>
            <p:ph idx="2" type="body"/>
          </p:nvPr>
        </p:nvSpPr>
        <p:spPr>
          <a:xfrm>
            <a:off x="533400" y="203200"/>
            <a:ext cx="22174200" cy="12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0"/>
              <a:buNone/>
            </a:pPr>
            <a:r>
              <a:rPr lang="en-PH"/>
              <a:t>Revision History</a:t>
            </a:r>
            <a:endParaRPr/>
          </a:p>
        </p:txBody>
      </p:sp>
      <p:graphicFrame>
        <p:nvGraphicFramePr>
          <p:cNvPr id="138" name="Google Shape;138;p2"/>
          <p:cNvGraphicFramePr/>
          <p:nvPr/>
        </p:nvGraphicFramePr>
        <p:xfrm>
          <a:off x="820497" y="220069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{8EA120D1-2538-4997-85D9-E25CA01775BE}</a:tableStyleId>
              </a:tblPr>
              <a:tblGrid>
                <a:gridCol w="1057950"/>
                <a:gridCol w="2962275"/>
                <a:gridCol w="2115925"/>
                <a:gridCol w="5307450"/>
                <a:gridCol w="2962275"/>
                <a:gridCol w="2115925"/>
                <a:gridCol w="2962275"/>
                <a:gridCol w="2115925"/>
              </a:tblGrid>
              <a:tr h="10515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2000" u="none" cap="none" strike="noStrike"/>
                        <a:t>Rev No.</a:t>
                      </a:r>
                      <a:endParaRPr/>
                    </a:p>
                  </a:txBody>
                  <a:tcPr marT="68575" marB="68575" marR="137150" marL="1371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2000" u="none" cap="none" strike="noStrike"/>
                        <a:t>MODIFIED BY</a:t>
                      </a:r>
                      <a:endParaRPr/>
                    </a:p>
                  </a:txBody>
                  <a:tcPr marT="68575" marB="68575" marR="137150" marL="1371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2000"/>
                        <a:t>MODIFIED DATE</a:t>
                      </a:r>
                      <a:endParaRPr/>
                    </a:p>
                  </a:txBody>
                  <a:tcPr marT="68575" marB="68575" marR="137150" marL="1371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2000"/>
                        <a:t>REMARKS</a:t>
                      </a:r>
                      <a:endParaRPr/>
                    </a:p>
                  </a:txBody>
                  <a:tcPr marT="68575" marB="68575" marR="137150" marL="1371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2000"/>
                        <a:t>PRELIMINARY REVIEW &amp; APPROVAL</a:t>
                      </a:r>
                      <a:endParaRPr/>
                    </a:p>
                  </a:txBody>
                  <a:tcPr marT="68575" marB="68575" marR="137150" marL="1371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2000"/>
                        <a:t>DATE REVIEWED</a:t>
                      </a:r>
                      <a:endParaRPr/>
                    </a:p>
                  </a:txBody>
                  <a:tcPr marT="68575" marB="68575" marR="137150" marL="1371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2000"/>
                        <a:t>FINAL REVIEW &amp; APPROVAL</a:t>
                      </a:r>
                      <a:endParaRPr/>
                    </a:p>
                  </a:txBody>
                  <a:tcPr marT="68575" marB="68575" marR="137150" marL="1371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2000"/>
                        <a:t>DATE APPROVED</a:t>
                      </a:r>
                      <a:endParaRPr/>
                    </a:p>
                  </a:txBody>
                  <a:tcPr marT="68575" marB="68575" marR="137150" marL="1371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504D"/>
                    </a:solidFill>
                  </a:tcPr>
                </a:tc>
              </a:tr>
              <a:tr h="8671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2000"/>
                        <a:t>1</a:t>
                      </a:r>
                      <a:endParaRPr sz="2000"/>
                    </a:p>
                  </a:txBody>
                  <a:tcPr marT="68575" marB="68575" marR="137150" marL="1371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2000"/>
                        <a:t>Bazar, Angelo R.</a:t>
                      </a:r>
                      <a:endParaRPr/>
                    </a:p>
                  </a:txBody>
                  <a:tcPr marT="68575" marB="68575" marR="137150" marL="1371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2000"/>
                        <a:t>05/05/26</a:t>
                      </a:r>
                      <a:endParaRPr/>
                    </a:p>
                  </a:txBody>
                  <a:tcPr marT="68575" marB="68575" marR="137150" marL="1371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2000"/>
                        <a:t>Initial Creation</a:t>
                      </a:r>
                      <a:endParaRPr sz="2000"/>
                    </a:p>
                  </a:txBody>
                  <a:tcPr marT="68575" marB="68575" marR="137150" marL="1371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PH" sz="2000"/>
                        <a:t>Bazar, Angelo R.</a:t>
                      </a:r>
                      <a:endParaRPr/>
                    </a:p>
                  </a:txBody>
                  <a:tcPr marT="68575" marB="68575" marR="137150" marL="1371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PH" sz="2000"/>
                        <a:t>05/05/26</a:t>
                      </a:r>
                      <a:endParaRPr/>
                    </a:p>
                  </a:txBody>
                  <a:tcPr marT="68575" marB="68575" marR="137150" marL="1371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8575" marB="68575" marR="137150" marL="1371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8575" marB="68575" marR="137150" marL="1371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8671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/>
                    </a:p>
                  </a:txBody>
                  <a:tcPr marT="68575" marB="68575" marR="137150" marL="1371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/>
                    </a:p>
                  </a:txBody>
                  <a:tcPr marT="68575" marB="68575" marR="137150" marL="1371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/>
                    </a:p>
                  </a:txBody>
                  <a:tcPr marT="68575" marB="68575" marR="137150" marL="1371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/>
                    </a:p>
                  </a:txBody>
                  <a:tcPr marT="68575" marB="68575" marR="137150" marL="1371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/>
                    </a:p>
                  </a:txBody>
                  <a:tcPr marT="68575" marB="68575" marR="137150" marL="1371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/>
                    </a:p>
                  </a:txBody>
                  <a:tcPr marT="68575" marB="68575" marR="137150" marL="1371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/>
                    </a:p>
                  </a:txBody>
                  <a:tcPr marT="68575" marB="68575" marR="137150" marL="1371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/>
                    </a:p>
                  </a:txBody>
                  <a:tcPr marT="68575" marB="68575" marR="137150" marL="1371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8671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/>
                    </a:p>
                  </a:txBody>
                  <a:tcPr marT="68575" marB="68575" marR="137150" marL="1371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/>
                    </a:p>
                  </a:txBody>
                  <a:tcPr marT="68575" marB="68575" marR="137150" marL="1371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/>
                    </a:p>
                  </a:txBody>
                  <a:tcPr marT="68575" marB="68575" marR="137150" marL="1371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/>
                    </a:p>
                  </a:txBody>
                  <a:tcPr marT="68575" marB="68575" marR="137150" marL="1371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/>
                    </a:p>
                  </a:txBody>
                  <a:tcPr marT="68575" marB="68575" marR="137150" marL="1371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/>
                    </a:p>
                  </a:txBody>
                  <a:tcPr marT="68575" marB="68575" marR="137150" marL="1371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/>
                    </a:p>
                  </a:txBody>
                  <a:tcPr marT="68575" marB="68575" marR="137150" marL="1371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/>
                    </a:p>
                  </a:txBody>
                  <a:tcPr marT="68575" marB="68575" marR="137150" marL="1371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8671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/>
                    </a:p>
                  </a:txBody>
                  <a:tcPr marT="68575" marB="68575" marR="137150" marL="1371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/>
                    </a:p>
                  </a:txBody>
                  <a:tcPr marT="68575" marB="68575" marR="137150" marL="1371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/>
                    </a:p>
                  </a:txBody>
                  <a:tcPr marT="68575" marB="68575" marR="137150" marL="1371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/>
                    </a:p>
                  </a:txBody>
                  <a:tcPr marT="68575" marB="68575" marR="137150" marL="1371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/>
                    </a:p>
                  </a:txBody>
                  <a:tcPr marT="68575" marB="68575" marR="137150" marL="1371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/>
                    </a:p>
                  </a:txBody>
                  <a:tcPr marT="68575" marB="68575" marR="137150" marL="1371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/>
                    </a:p>
                  </a:txBody>
                  <a:tcPr marT="68575" marB="68575" marR="137150" marL="1371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/>
                    </a:p>
                  </a:txBody>
                  <a:tcPr marT="68575" marB="68575" marR="137150" marL="1371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8671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/>
                    </a:p>
                  </a:txBody>
                  <a:tcPr marT="68575" marB="68575" marR="137150" marL="1371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/>
                    </a:p>
                  </a:txBody>
                  <a:tcPr marT="68575" marB="68575" marR="137150" marL="1371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/>
                    </a:p>
                  </a:txBody>
                  <a:tcPr marT="68575" marB="68575" marR="137150" marL="1371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/>
                    </a:p>
                  </a:txBody>
                  <a:tcPr marT="68575" marB="68575" marR="137150" marL="1371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/>
                    </a:p>
                  </a:txBody>
                  <a:tcPr marT="68575" marB="68575" marR="137150" marL="1371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/>
                    </a:p>
                  </a:txBody>
                  <a:tcPr marT="68575" marB="68575" marR="137150" marL="1371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/>
                    </a:p>
                  </a:txBody>
                  <a:tcPr marT="68575" marB="68575" marR="137150" marL="1371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/>
                    </a:p>
                  </a:txBody>
                  <a:tcPr marT="68575" marB="68575" marR="137150" marL="1371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8671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/>
                    </a:p>
                  </a:txBody>
                  <a:tcPr marT="68575" marB="68575" marR="137150" marL="1371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/>
                    </a:p>
                  </a:txBody>
                  <a:tcPr marT="68575" marB="68575" marR="137150" marL="1371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/>
                    </a:p>
                  </a:txBody>
                  <a:tcPr marT="68575" marB="68575" marR="137150" marL="1371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/>
                    </a:p>
                  </a:txBody>
                  <a:tcPr marT="68575" marB="68575" marR="137150" marL="1371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/>
                    </a:p>
                  </a:txBody>
                  <a:tcPr marT="68575" marB="68575" marR="137150" marL="1371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/>
                    </a:p>
                  </a:txBody>
                  <a:tcPr marT="68575" marB="68575" marR="137150" marL="1371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/>
                    </a:p>
                  </a:txBody>
                  <a:tcPr marT="68575" marB="68575" marR="137150" marL="1371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/>
                    </a:p>
                  </a:txBody>
                  <a:tcPr marT="68575" marB="68575" marR="137150" marL="1371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8671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/>
                    </a:p>
                  </a:txBody>
                  <a:tcPr marT="68575" marB="68575" marR="137150" marL="1371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/>
                    </a:p>
                  </a:txBody>
                  <a:tcPr marT="68575" marB="68575" marR="137150" marL="1371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/>
                    </a:p>
                  </a:txBody>
                  <a:tcPr marT="68575" marB="68575" marR="137150" marL="1371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/>
                    </a:p>
                  </a:txBody>
                  <a:tcPr marT="68575" marB="68575" marR="137150" marL="1371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/>
                    </a:p>
                  </a:txBody>
                  <a:tcPr marT="68575" marB="68575" marR="137150" marL="1371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/>
                    </a:p>
                  </a:txBody>
                  <a:tcPr marT="68575" marB="68575" marR="137150" marL="1371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/>
                    </a:p>
                  </a:txBody>
                  <a:tcPr marT="68575" marB="68575" marR="137150" marL="1371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/>
                    </a:p>
                  </a:txBody>
                  <a:tcPr marT="68575" marB="68575" marR="137150" marL="1371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8671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/>
                    </a:p>
                  </a:txBody>
                  <a:tcPr marT="68575" marB="68575" marR="137150" marL="1371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/>
                    </a:p>
                  </a:txBody>
                  <a:tcPr marT="68575" marB="68575" marR="137150" marL="1371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/>
                    </a:p>
                  </a:txBody>
                  <a:tcPr marT="68575" marB="68575" marR="137150" marL="1371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/>
                    </a:p>
                  </a:txBody>
                  <a:tcPr marT="68575" marB="68575" marR="137150" marL="1371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/>
                    </a:p>
                  </a:txBody>
                  <a:tcPr marT="68575" marB="68575" marR="137150" marL="1371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/>
                    </a:p>
                  </a:txBody>
                  <a:tcPr marT="68575" marB="68575" marR="137150" marL="1371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/>
                    </a:p>
                  </a:txBody>
                  <a:tcPr marT="68575" marB="68575" marR="137150" marL="1371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/>
                    </a:p>
                  </a:txBody>
                  <a:tcPr marT="68575" marB="68575" marR="137150" marL="1371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8671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/>
                    </a:p>
                  </a:txBody>
                  <a:tcPr marT="68575" marB="68575" marR="137150" marL="1371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/>
                    </a:p>
                  </a:txBody>
                  <a:tcPr marT="68575" marB="68575" marR="137150" marL="1371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/>
                    </a:p>
                  </a:txBody>
                  <a:tcPr marT="68575" marB="68575" marR="137150" marL="1371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/>
                    </a:p>
                  </a:txBody>
                  <a:tcPr marT="68575" marB="68575" marR="137150" marL="1371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/>
                    </a:p>
                  </a:txBody>
                  <a:tcPr marT="68575" marB="68575" marR="137150" marL="1371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/>
                    </a:p>
                  </a:txBody>
                  <a:tcPr marT="68575" marB="68575" marR="137150" marL="1371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/>
                    </a:p>
                  </a:txBody>
                  <a:tcPr marT="68575" marB="68575" marR="137150" marL="1371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/>
                    </a:p>
                  </a:txBody>
                  <a:tcPr marT="68575" marB="68575" marR="137150" marL="1371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8671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/>
                    </a:p>
                  </a:txBody>
                  <a:tcPr marT="68575" marB="68575" marR="137150" marL="1371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/>
                    </a:p>
                  </a:txBody>
                  <a:tcPr marT="68575" marB="68575" marR="137150" marL="1371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/>
                    </a:p>
                  </a:txBody>
                  <a:tcPr marT="68575" marB="68575" marR="137150" marL="1371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/>
                    </a:p>
                  </a:txBody>
                  <a:tcPr marT="68575" marB="68575" marR="137150" marL="1371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/>
                    </a:p>
                  </a:txBody>
                  <a:tcPr marT="68575" marB="68575" marR="137150" marL="1371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/>
                    </a:p>
                  </a:txBody>
                  <a:tcPr marT="68575" marB="68575" marR="137150" marL="1371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/>
                    </a:p>
                  </a:txBody>
                  <a:tcPr marT="68575" marB="68575" marR="137150" marL="1371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/>
                    </a:p>
                  </a:txBody>
                  <a:tcPr marT="68575" marB="68575" marR="137150" marL="1371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8671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/>
                    </a:p>
                  </a:txBody>
                  <a:tcPr marT="68575" marB="68575" marR="137150" marL="1371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/>
                    </a:p>
                  </a:txBody>
                  <a:tcPr marT="68575" marB="68575" marR="137150" marL="1371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/>
                    </a:p>
                  </a:txBody>
                  <a:tcPr marT="68575" marB="68575" marR="137150" marL="1371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/>
                    </a:p>
                  </a:txBody>
                  <a:tcPr marT="68575" marB="68575" marR="137150" marL="1371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/>
                    </a:p>
                  </a:txBody>
                  <a:tcPr marT="68575" marB="68575" marR="137150" marL="1371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/>
                    </a:p>
                  </a:txBody>
                  <a:tcPr marT="68575" marB="68575" marR="137150" marL="1371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/>
                    </a:p>
                  </a:txBody>
                  <a:tcPr marT="68575" marB="68575" marR="137150" marL="1371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/>
                    </a:p>
                  </a:txBody>
                  <a:tcPr marT="68575" marB="68575" marR="137150" marL="1371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"/>
          <p:cNvSpPr txBox="1"/>
          <p:nvPr/>
        </p:nvSpPr>
        <p:spPr>
          <a:xfrm>
            <a:off x="6550708" y="5948559"/>
            <a:ext cx="10860992" cy="1818882"/>
          </a:xfrm>
          <a:prstGeom prst="rect">
            <a:avLst/>
          </a:prstGeom>
          <a:noFill/>
          <a:ln>
            <a:noFill/>
          </a:ln>
        </p:spPr>
        <p:txBody>
          <a:bodyPr anchorCtr="0" anchor="ctr" bIns="101600" lIns="101600" spcFirstLastPara="1" rIns="101600" wrap="square" tIns="101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PH" sz="13200" u="none" cap="none" strike="noStrike">
                <a:solidFill>
                  <a:srgbClr val="FF0000"/>
                </a:solidFill>
                <a:latin typeface="Impact"/>
                <a:ea typeface="Impact"/>
                <a:cs typeface="Impact"/>
                <a:sym typeface="Impact"/>
              </a:rPr>
              <a:t>SCREEN DETAILS</a:t>
            </a:r>
            <a:endParaRPr b="0" i="0" sz="13200" u="none" cap="none" strike="noStrike">
              <a:solidFill>
                <a:srgbClr val="FF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"/>
          <p:cNvSpPr txBox="1"/>
          <p:nvPr>
            <p:ph idx="2" type="body"/>
          </p:nvPr>
        </p:nvSpPr>
        <p:spPr>
          <a:xfrm>
            <a:off x="533400" y="203200"/>
            <a:ext cx="22174200" cy="12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0"/>
              <a:buNone/>
            </a:pPr>
            <a:r>
              <a:rPr lang="en-PH"/>
              <a:t>Screen List</a:t>
            </a:r>
            <a:endParaRPr/>
          </a:p>
        </p:txBody>
      </p:sp>
      <p:graphicFrame>
        <p:nvGraphicFramePr>
          <p:cNvPr id="149" name="Google Shape;149;p4"/>
          <p:cNvGraphicFramePr/>
          <p:nvPr/>
        </p:nvGraphicFramePr>
        <p:xfrm>
          <a:off x="768721" y="220069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{8EA120D1-2538-4997-85D9-E25CA01775BE}</a:tableStyleId>
              </a:tblPr>
              <a:tblGrid>
                <a:gridCol w="5382825"/>
                <a:gridCol w="9639125"/>
                <a:gridCol w="7659900"/>
              </a:tblGrid>
              <a:tr h="10515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2000"/>
                        <a:t>Screen</a:t>
                      </a:r>
                      <a:endParaRPr/>
                    </a:p>
                  </a:txBody>
                  <a:tcPr marT="68575" marB="68575" marR="137150" marL="1371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2000"/>
                        <a:t>Descripton</a:t>
                      </a:r>
                      <a:endParaRPr sz="2000"/>
                    </a:p>
                  </a:txBody>
                  <a:tcPr marT="68575" marB="68575" marR="137150" marL="1371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2000"/>
                        <a:t>REMARKS</a:t>
                      </a:r>
                      <a:endParaRPr/>
                    </a:p>
                  </a:txBody>
                  <a:tcPr marT="68575" marB="68575" marR="137150" marL="1371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504D"/>
                    </a:solidFill>
                  </a:tcPr>
                </a:tc>
              </a:tr>
              <a:tr h="8671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PH" sz="1900"/>
                        <a:t>Login / Authentication</a:t>
                      </a:r>
                      <a:endParaRPr b="1" sz="1900"/>
                    </a:p>
                  </a:txBody>
                  <a:tcPr marT="91425" marB="91425" marR="91425" marL="91425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1900"/>
                        <a:t>The entry point for all users to securely access the platform.</a:t>
                      </a:r>
                      <a:endParaRPr sz="19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1900"/>
                        <a:t>Handles role-based redirection to Admin, Teacher, or Student portals.</a:t>
                      </a:r>
                      <a:endParaRPr sz="19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671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PH" sz="1900"/>
                        <a:t>Registration Portal</a:t>
                      </a:r>
                      <a:endParaRPr b="1" sz="1900"/>
                    </a:p>
                  </a:txBody>
                  <a:tcPr marT="91425" marB="91425" marR="91425" marL="91425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1900"/>
                        <a:t>Allows new users to create accounts within the system.</a:t>
                      </a:r>
                      <a:endParaRPr sz="19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1900"/>
                        <a:t>Includes validation and role assignment during the sign-up process.</a:t>
                      </a:r>
                      <a:endParaRPr sz="19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6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PH" sz="1900"/>
                        <a:t>Admin Dashboard</a:t>
                      </a:r>
                      <a:endParaRPr b="1" sz="1900"/>
                    </a:p>
                  </a:txBody>
                  <a:tcPr marT="91425" marB="91425" marR="91425" marL="91425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1900"/>
                        <a:t>Centralized hub for system administrators to view high-level system metrics and status.</a:t>
                      </a:r>
                      <a:endParaRPr sz="19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1900"/>
                        <a:t>Primary landing page for users with the 'Admin' role.</a:t>
                      </a:r>
                      <a:endParaRPr sz="19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6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PH" sz="1900"/>
                        <a:t>User Manager</a:t>
                      </a:r>
                      <a:endParaRPr b="1" sz="1900"/>
                    </a:p>
                  </a:txBody>
                  <a:tcPr marT="91425" marB="91425" marR="91425" marL="91425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1900"/>
                        <a:t>Administrative interface for managing user accounts, editing roles, and controlling permissions.</a:t>
                      </a:r>
                      <a:endParaRPr sz="19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1900"/>
                        <a:t>Provides CRUD operations for the system's user database.</a:t>
                      </a:r>
                      <a:endParaRPr sz="19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6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PH" sz="1900"/>
                        <a:t>Broadcast Center</a:t>
                      </a:r>
                      <a:endParaRPr b="1" sz="1900"/>
                    </a:p>
                  </a:txBody>
                  <a:tcPr marT="91425" marB="91425" marR="91425" marL="91425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1900"/>
                        <a:t>A tool for administrators to send high-priority system-wide messages or alerts.</a:t>
                      </a:r>
                      <a:endParaRPr sz="19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1900"/>
                        <a:t>Essential for global communication from school administration.</a:t>
                      </a:r>
                      <a:endParaRPr sz="19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6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PH" sz="1900"/>
                        <a:t>Audit Logs</a:t>
                      </a:r>
                      <a:endParaRPr b="1" sz="1900"/>
                    </a:p>
                  </a:txBody>
                  <a:tcPr marT="91425" marB="91425" marR="91425" marL="91425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1900"/>
                        <a:t>A security-focused screen that records and displays critical system events and user actions.</a:t>
                      </a:r>
                      <a:endParaRPr sz="19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1900"/>
                        <a:t>Used for troubleshooting and maintaining a secure audit trail.</a:t>
                      </a:r>
                      <a:endParaRPr sz="19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6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PH" sz="1900"/>
                        <a:t>Teacher Dashboard</a:t>
                      </a:r>
                      <a:endParaRPr b="1" sz="1900"/>
                    </a:p>
                  </a:txBody>
                  <a:tcPr marT="91425" marB="91425" marR="91425" marL="91425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1900"/>
                        <a:t>A personalized overview for educators to see their current schedule, active classes, and tasks.</a:t>
                      </a:r>
                      <a:endParaRPr sz="19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1900"/>
                        <a:t>Primary landing page for users with the 'Teacher' role.</a:t>
                      </a:r>
                      <a:endParaRPr sz="19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6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PH" sz="1900"/>
                        <a:t>Teacher Classes</a:t>
                      </a:r>
                      <a:endParaRPr b="1" sz="1900"/>
                    </a:p>
                  </a:txBody>
                  <a:tcPr marT="91425" marB="91425" marR="91425" marL="91425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1900"/>
                        <a:t>Management screen where teachers can view and organize their assigned course sections.</a:t>
                      </a:r>
                      <a:endParaRPr sz="19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1900"/>
                        <a:t>Linked to the academic database for real-time class lists.</a:t>
                      </a:r>
                      <a:endParaRPr sz="19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6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PH" sz="1900"/>
                        <a:t>Grading Hub</a:t>
                      </a:r>
                      <a:endParaRPr b="1" sz="1900"/>
                    </a:p>
                  </a:txBody>
                  <a:tcPr marT="91425" marB="91425" marR="91425" marL="91425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1900"/>
                        <a:t>The primary interface for teachers to manage assessments and input student grades.</a:t>
                      </a:r>
                      <a:endParaRPr sz="19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1900"/>
                        <a:t>Critical for academic performance tracking and report generation.</a:t>
                      </a:r>
                      <a:endParaRPr sz="19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6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PH" sz="1900"/>
                        <a:t>Attendance Manager</a:t>
                      </a:r>
                      <a:endParaRPr b="1" sz="1900"/>
                    </a:p>
                  </a:txBody>
                  <a:tcPr marT="91425" marB="91425" marR="91425" marL="91425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1900"/>
                        <a:t>A tool for teachers to record and monitor student attendance for their respective classes.</a:t>
                      </a:r>
                      <a:endParaRPr sz="19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1900"/>
                        <a:t>Simplifies daily administrative tasks for educators.</a:t>
                      </a:r>
                      <a:endParaRPr sz="19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6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PH" sz="1900"/>
                        <a:t>Student Dashboard</a:t>
                      </a:r>
                      <a:endParaRPr b="1" sz="1900"/>
                    </a:p>
                  </a:txBody>
                  <a:tcPr marT="91425" marB="91425" marR="91425" marL="91425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1900"/>
                        <a:t>A user-friendly overview for students showing their current progress and upcoming deadlines.</a:t>
                      </a:r>
                      <a:endParaRPr sz="19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1900"/>
                        <a:t>Primary landing page for users with the 'Student' role.</a:t>
                      </a:r>
                      <a:endParaRPr sz="19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dc4f193950_0_5"/>
          <p:cNvSpPr txBox="1"/>
          <p:nvPr>
            <p:ph idx="2" type="body"/>
          </p:nvPr>
        </p:nvSpPr>
        <p:spPr>
          <a:xfrm>
            <a:off x="533400" y="203200"/>
            <a:ext cx="22174200" cy="128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0"/>
              <a:buNone/>
            </a:pPr>
            <a:r>
              <a:rPr lang="en-PH"/>
              <a:t>Screen List</a:t>
            </a:r>
            <a:endParaRPr/>
          </a:p>
        </p:txBody>
      </p:sp>
      <p:graphicFrame>
        <p:nvGraphicFramePr>
          <p:cNvPr id="155" name="Google Shape;155;g3dc4f193950_0_5"/>
          <p:cNvGraphicFramePr/>
          <p:nvPr/>
        </p:nvGraphicFramePr>
        <p:xfrm>
          <a:off x="768721" y="220069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{8EA120D1-2538-4997-85D9-E25CA01775BE}</a:tableStyleId>
              </a:tblPr>
              <a:tblGrid>
                <a:gridCol w="5382825"/>
                <a:gridCol w="9639125"/>
                <a:gridCol w="7659900"/>
              </a:tblGrid>
              <a:tr h="10515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2000"/>
                        <a:t>Screen</a:t>
                      </a:r>
                      <a:endParaRPr/>
                    </a:p>
                  </a:txBody>
                  <a:tcPr marT="68575" marB="68575" marR="137150" marL="1371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2000"/>
                        <a:t>Descripton</a:t>
                      </a:r>
                      <a:endParaRPr sz="2000"/>
                    </a:p>
                  </a:txBody>
                  <a:tcPr marT="68575" marB="68575" marR="137150" marL="1371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2000"/>
                        <a:t>REMARKS</a:t>
                      </a:r>
                      <a:endParaRPr/>
                    </a:p>
                  </a:txBody>
                  <a:tcPr marT="68575" marB="68575" marR="137150" marL="1371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504D"/>
                    </a:solidFill>
                  </a:tcPr>
                </a:tc>
              </a:tr>
              <a:tr h="8671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37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PH" sz="1900"/>
                        <a:t>Academic Performance</a:t>
                      </a:r>
                      <a:endParaRPr b="1" sz="1900"/>
                    </a:p>
                  </a:txBody>
                  <a:tcPr marT="91425" marB="91425" marR="91425" marL="91425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37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1900"/>
                        <a:t>A dashboard for students to track their grades, view feedback, and monitor GPA trends.</a:t>
                      </a:r>
                      <a:endParaRPr sz="19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37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1900"/>
                        <a:t>Provides data visualization of the student's learning journey.</a:t>
                      </a:r>
                      <a:endParaRPr sz="19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671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37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PH" sz="1900"/>
                        <a:t>Personal Attendance</a:t>
                      </a:r>
                      <a:endParaRPr b="1" sz="1900"/>
                    </a:p>
                  </a:txBody>
                  <a:tcPr marT="91425" marB="91425" marR="91425" marL="91425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37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1900"/>
                        <a:t>Allows students to review their own attendance history and track their presence across subjects.</a:t>
                      </a:r>
                      <a:endParaRPr sz="19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37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1900"/>
                        <a:t>Helps students stay accountable for their school participation.</a:t>
                      </a:r>
                      <a:endParaRPr sz="19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671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37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PH" sz="1900"/>
                        <a:t>Assignments Portal</a:t>
                      </a:r>
                      <a:endParaRPr b="1" sz="1900"/>
                    </a:p>
                  </a:txBody>
                  <a:tcPr marT="91425" marB="91425" marR="91425" marL="91425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37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1900"/>
                        <a:t>A centralized area for students to view assignment details and submit their work.</a:t>
                      </a:r>
                      <a:endParaRPr sz="19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37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1900"/>
                        <a:t>Streamlines the submission process and tracks due dates.</a:t>
                      </a:r>
                      <a:endParaRPr sz="19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5"/>
          <p:cNvSpPr txBox="1"/>
          <p:nvPr>
            <p:ph idx="2" type="body"/>
          </p:nvPr>
        </p:nvSpPr>
        <p:spPr>
          <a:xfrm>
            <a:off x="533400" y="203200"/>
            <a:ext cx="22174200" cy="12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0"/>
              <a:buNone/>
            </a:pPr>
            <a:r>
              <a:rPr lang="en-PH"/>
              <a:t>1.0 </a:t>
            </a:r>
            <a:r>
              <a:rPr i="1" lang="en-PH"/>
              <a:t>Screen Name</a:t>
            </a:r>
            <a:endParaRPr/>
          </a:p>
        </p:txBody>
      </p:sp>
      <p:sp>
        <p:nvSpPr>
          <p:cNvPr id="161" name="Google Shape;161;p5"/>
          <p:cNvSpPr/>
          <p:nvPr/>
        </p:nvSpPr>
        <p:spPr>
          <a:xfrm>
            <a:off x="5350731" y="4708656"/>
            <a:ext cx="13308330" cy="2598262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300" lIns="182875" spcFirstLastPara="1" rIns="182875" wrap="square" tIns="182875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PH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Attach screenshot of the screen/page/form here.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"/>
          <p:cNvSpPr txBox="1"/>
          <p:nvPr>
            <p:ph idx="2" type="body"/>
          </p:nvPr>
        </p:nvSpPr>
        <p:spPr>
          <a:xfrm>
            <a:off x="533400" y="203200"/>
            <a:ext cx="22174200" cy="12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0"/>
              <a:buNone/>
            </a:pPr>
            <a:r>
              <a:rPr lang="en-PH"/>
              <a:t>1.0 </a:t>
            </a:r>
            <a:r>
              <a:rPr i="1" lang="en-PH"/>
              <a:t>Screen Name Logic</a:t>
            </a:r>
            <a:endParaRPr/>
          </a:p>
        </p:txBody>
      </p:sp>
      <p:sp>
        <p:nvSpPr>
          <p:cNvPr id="167" name="Google Shape;167;p6"/>
          <p:cNvSpPr/>
          <p:nvPr/>
        </p:nvSpPr>
        <p:spPr>
          <a:xfrm>
            <a:off x="11990070" y="1249838"/>
            <a:ext cx="13308330" cy="2598262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300" lIns="182875" spcFirstLastPara="1" rIns="182875" wrap="square" tIns="182875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PH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Logic statements should be short and concise.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PH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As much as possible, use phrases, not sentences to limit the use of words.</a:t>
            </a:r>
            <a:endParaRPr/>
          </a:p>
          <a:p>
            <a:pPr indent="0" lvl="0" marL="0" marR="0" rtl="0" algn="l">
              <a:lnSpc>
                <a:spcPct val="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PH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Special logic and abnormal scenarios/cases shall be indicated.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PH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need to indicate common sense and self explanatory logic / cases anymore. 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6"/>
          <p:cNvSpPr txBox="1"/>
          <p:nvPr/>
        </p:nvSpPr>
        <p:spPr>
          <a:xfrm>
            <a:off x="1255850" y="2108450"/>
            <a:ext cx="18054300" cy="97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PH" sz="2500">
                <a:solidFill>
                  <a:schemeClr val="dk1"/>
                </a:solidFill>
              </a:rPr>
              <a:t>Login</a:t>
            </a:r>
            <a:endParaRPr b="1" sz="2500">
              <a:solidFill>
                <a:schemeClr val="dk1"/>
              </a:solidFill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b="1" lang="en-PH" sz="2500">
                <a:solidFill>
                  <a:schemeClr val="dk1"/>
                </a:solidFill>
              </a:rPr>
              <a:t>System Access</a:t>
            </a:r>
            <a:endParaRPr b="1" sz="2500">
              <a:solidFill>
                <a:schemeClr val="dk1"/>
              </a:solidFill>
            </a:endParaRPr>
          </a:p>
          <a:p>
            <a:pPr indent="-3873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b="1" lang="en-PH" sz="2500">
                <a:solidFill>
                  <a:schemeClr val="dk1"/>
                </a:solidFill>
              </a:rPr>
              <a:t>Logic:</a:t>
            </a:r>
            <a:r>
              <a:rPr lang="en-PH" sz="2500">
                <a:solidFill>
                  <a:schemeClr val="dk1"/>
                </a:solidFill>
              </a:rPr>
              <a:t> Automatic redirection to dashboard if valid session exists.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b="1" lang="en-PH" sz="2500">
                <a:solidFill>
                  <a:schemeClr val="dk1"/>
                </a:solidFill>
              </a:rPr>
              <a:t>Sign In</a:t>
            </a:r>
            <a:endParaRPr b="1" sz="2500">
              <a:solidFill>
                <a:schemeClr val="dk1"/>
              </a:solidFill>
            </a:endParaRPr>
          </a:p>
          <a:p>
            <a:pPr indent="-3873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b="1" lang="en-PH" sz="2500">
                <a:solidFill>
                  <a:schemeClr val="dk1"/>
                </a:solidFill>
              </a:rPr>
              <a:t>Action:</a:t>
            </a:r>
            <a:r>
              <a:rPr lang="en-PH" sz="2500">
                <a:solidFill>
                  <a:schemeClr val="dk1"/>
                </a:solidFill>
              </a:rPr>
              <a:t> Role-based routing execution.</a:t>
            </a:r>
            <a:endParaRPr sz="2500">
              <a:solidFill>
                <a:schemeClr val="dk1"/>
              </a:solidFill>
            </a:endParaRPr>
          </a:p>
          <a:p>
            <a:pPr indent="-3873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b="1" lang="en-PH" sz="2500">
                <a:solidFill>
                  <a:schemeClr val="dk1"/>
                </a:solidFill>
              </a:rPr>
              <a:t>Action Logic:</a:t>
            </a:r>
            <a:r>
              <a:rPr lang="en-PH" sz="2500">
                <a:solidFill>
                  <a:schemeClr val="dk1"/>
                </a:solidFill>
              </a:rPr>
              <a:t> Navigation to unique portal (Admin, Teacher, Student) based on account role.</a:t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PH" sz="2500">
                <a:solidFill>
                  <a:schemeClr val="dk1"/>
                </a:solidFill>
              </a:rPr>
              <a:t>User Manager (Admin)</a:t>
            </a:r>
            <a:endParaRPr b="1" sz="2500">
              <a:solidFill>
                <a:schemeClr val="dk1"/>
              </a:solidFill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b="1" lang="en-PH" sz="2500">
                <a:solidFill>
                  <a:schemeClr val="dk1"/>
                </a:solidFill>
              </a:rPr>
              <a:t>Institutional Invites</a:t>
            </a:r>
            <a:endParaRPr b="1" sz="2500">
              <a:solidFill>
                <a:schemeClr val="dk1"/>
              </a:solidFill>
            </a:endParaRPr>
          </a:p>
          <a:p>
            <a:pPr indent="-3873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b="1" lang="en-PH" sz="2500">
                <a:solidFill>
                  <a:schemeClr val="dk1"/>
                </a:solidFill>
              </a:rPr>
              <a:t>Logic:</a:t>
            </a:r>
            <a:r>
              <a:rPr lang="en-PH" sz="2500">
                <a:solidFill>
                  <a:schemeClr val="dk1"/>
                </a:solidFill>
              </a:rPr>
              <a:t> Unique registration keys required for faculty/student enrollment.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b="1" lang="en-PH" sz="2500">
                <a:solidFill>
                  <a:schemeClr val="dk1"/>
                </a:solidFill>
              </a:rPr>
              <a:t>User Status</a:t>
            </a:r>
            <a:endParaRPr b="1" sz="2500">
              <a:solidFill>
                <a:schemeClr val="dk1"/>
              </a:solidFill>
            </a:endParaRPr>
          </a:p>
          <a:p>
            <a:pPr indent="-3873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b="1" lang="en-PH" sz="2500">
                <a:solidFill>
                  <a:schemeClr val="dk1"/>
                </a:solidFill>
              </a:rPr>
              <a:t>Logic:</a:t>
            </a:r>
            <a:r>
              <a:rPr lang="en-PH" sz="2500">
                <a:solidFill>
                  <a:schemeClr val="dk1"/>
                </a:solidFill>
              </a:rPr>
              <a:t> Real-time session termination upon account deactivation.</a:t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PH" sz="2500">
                <a:solidFill>
                  <a:schemeClr val="dk1"/>
                </a:solidFill>
              </a:rPr>
              <a:t>Grading Hub (Teacher)</a:t>
            </a:r>
            <a:endParaRPr b="1" sz="2500">
              <a:solidFill>
                <a:schemeClr val="dk1"/>
              </a:solidFill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b="1" lang="en-PH" sz="2500">
                <a:solidFill>
                  <a:schemeClr val="dk1"/>
                </a:solidFill>
              </a:rPr>
              <a:t>Assessment Scores</a:t>
            </a:r>
            <a:endParaRPr b="1" sz="2500">
              <a:solidFill>
                <a:schemeClr val="dk1"/>
              </a:solidFill>
            </a:endParaRPr>
          </a:p>
          <a:p>
            <a:pPr indent="-3873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b="1" lang="en-PH" sz="2500">
                <a:solidFill>
                  <a:schemeClr val="dk1"/>
                </a:solidFill>
              </a:rPr>
              <a:t>Logic:</a:t>
            </a:r>
            <a:r>
              <a:rPr lang="en-PH" sz="2500">
                <a:solidFill>
                  <a:schemeClr val="dk1"/>
                </a:solidFill>
              </a:rPr>
              <a:t> Constrained numeric input within [0 to Perfect Score] range.</a:t>
            </a:r>
            <a:endParaRPr sz="2500">
              <a:solidFill>
                <a:schemeClr val="dk1"/>
              </a:solidFill>
            </a:endParaRPr>
          </a:p>
          <a:p>
            <a:pPr indent="-3873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b="1" lang="en-PH" sz="2500">
                <a:solidFill>
                  <a:schemeClr val="dk1"/>
                </a:solidFill>
              </a:rPr>
              <a:t>Logic:</a:t>
            </a:r>
            <a:r>
              <a:rPr lang="en-PH" sz="2500">
                <a:solidFill>
                  <a:schemeClr val="dk1"/>
                </a:solidFill>
              </a:rPr>
              <a:t> Dynamic grade point computation based on section-specific passing standards.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b="1" lang="en-PH" sz="2500">
                <a:solidFill>
                  <a:schemeClr val="dk1"/>
                </a:solidFill>
              </a:rPr>
              <a:t>Finalize Records</a:t>
            </a:r>
            <a:endParaRPr b="1" sz="2500">
              <a:solidFill>
                <a:schemeClr val="dk1"/>
              </a:solidFill>
            </a:endParaRPr>
          </a:p>
          <a:p>
            <a:pPr indent="-3873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b="1" lang="en-PH" sz="2500">
                <a:solidFill>
                  <a:schemeClr val="dk1"/>
                </a:solidFill>
              </a:rPr>
              <a:t>Action:</a:t>
            </a:r>
            <a:r>
              <a:rPr lang="en-PH" sz="2500">
                <a:solidFill>
                  <a:schemeClr val="dk1"/>
                </a:solidFill>
              </a:rPr>
              <a:t> Committing evaluations to permanent student history.</a:t>
            </a:r>
            <a:endParaRPr sz="2500">
              <a:solidFill>
                <a:schemeClr val="dk1"/>
              </a:solidFill>
            </a:endParaRPr>
          </a:p>
          <a:p>
            <a:pPr indent="-3873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b="1" lang="en-PH" sz="2500">
                <a:solidFill>
                  <a:schemeClr val="dk1"/>
                </a:solidFill>
              </a:rPr>
              <a:t>Action Logic:</a:t>
            </a:r>
            <a:r>
              <a:rPr lang="en-PH" sz="2500">
                <a:solidFill>
                  <a:schemeClr val="dk1"/>
                </a:solidFill>
              </a:rPr>
              <a:t> Mandatory audit-trail reason for post-finalization grade adjustments.</a:t>
            </a:r>
            <a:endParaRPr sz="25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i="1" sz="2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dc4f193950_0_12"/>
          <p:cNvSpPr txBox="1"/>
          <p:nvPr>
            <p:ph idx="2" type="body"/>
          </p:nvPr>
        </p:nvSpPr>
        <p:spPr>
          <a:xfrm>
            <a:off x="533400" y="203200"/>
            <a:ext cx="22174200" cy="128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0"/>
              <a:buNone/>
            </a:pPr>
            <a:r>
              <a:rPr lang="en-PH"/>
              <a:t>1.0 </a:t>
            </a:r>
            <a:r>
              <a:rPr i="1" lang="en-PH"/>
              <a:t>Screen Name Logic</a:t>
            </a:r>
            <a:endParaRPr/>
          </a:p>
        </p:txBody>
      </p:sp>
      <p:sp>
        <p:nvSpPr>
          <p:cNvPr id="174" name="Google Shape;174;g3dc4f193950_0_12"/>
          <p:cNvSpPr/>
          <p:nvPr/>
        </p:nvSpPr>
        <p:spPr>
          <a:xfrm>
            <a:off x="11990070" y="1249838"/>
            <a:ext cx="13308300" cy="2598300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300" lIns="182875" spcFirstLastPara="1" rIns="182875" wrap="square" tIns="182875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PH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Logic statements should be short and concise.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PH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As much as possible, use phrases, not sentences to limit the use of words.</a:t>
            </a:r>
            <a:endParaRPr/>
          </a:p>
          <a:p>
            <a:pPr indent="0" lvl="0" marL="0" marR="0" rtl="0" algn="l">
              <a:lnSpc>
                <a:spcPct val="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PH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Special logic and abnormal scenarios/cases shall be indicated.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PH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need to indicate common sense and self explanatory logic / cases anymore. 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g3dc4f193950_0_12"/>
          <p:cNvSpPr txBox="1"/>
          <p:nvPr/>
        </p:nvSpPr>
        <p:spPr>
          <a:xfrm>
            <a:off x="1255850" y="2108450"/>
            <a:ext cx="18054300" cy="76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PH" sz="2500">
                <a:solidFill>
                  <a:schemeClr val="dk1"/>
                </a:solidFill>
              </a:rPr>
              <a:t>Attendance Manager (Teacher)</a:t>
            </a:r>
            <a:endParaRPr b="1" sz="2500">
              <a:solidFill>
                <a:schemeClr val="dk1"/>
              </a:solidFill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b="1" lang="en-PH" sz="2500">
                <a:solidFill>
                  <a:schemeClr val="dk1"/>
                </a:solidFill>
              </a:rPr>
              <a:t>Date Selection</a:t>
            </a:r>
            <a:endParaRPr b="1" sz="2500">
              <a:solidFill>
                <a:schemeClr val="dk1"/>
              </a:solidFill>
            </a:endParaRPr>
          </a:p>
          <a:p>
            <a:pPr indent="-3873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b="1" lang="en-PH" sz="2500">
                <a:solidFill>
                  <a:schemeClr val="dk1"/>
                </a:solidFill>
              </a:rPr>
              <a:t>Logic:</a:t>
            </a:r>
            <a:r>
              <a:rPr lang="en-PH" sz="2500">
                <a:solidFill>
                  <a:schemeClr val="dk1"/>
                </a:solidFill>
              </a:rPr>
              <a:t> Date picker restriction to valid class schedule days (MWF, TTH, etc.).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b="1" lang="en-PH" sz="2500">
                <a:solidFill>
                  <a:schemeClr val="dk1"/>
                </a:solidFill>
              </a:rPr>
              <a:t>Semester Completion</a:t>
            </a:r>
            <a:endParaRPr b="1" sz="2500">
              <a:solidFill>
                <a:schemeClr val="dk1"/>
              </a:solidFill>
            </a:endParaRPr>
          </a:p>
          <a:p>
            <a:pPr indent="-3873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b="1" lang="en-PH" sz="2500">
                <a:solidFill>
                  <a:schemeClr val="dk1"/>
                </a:solidFill>
              </a:rPr>
              <a:t>Action:</a:t>
            </a:r>
            <a:r>
              <a:rPr lang="en-PH" sz="2500">
                <a:solidFill>
                  <a:schemeClr val="dk1"/>
                </a:solidFill>
              </a:rPr>
              <a:t> Triggering permanent academic section closure.</a:t>
            </a:r>
            <a:endParaRPr sz="2500">
              <a:solidFill>
                <a:schemeClr val="dk1"/>
              </a:solidFill>
            </a:endParaRPr>
          </a:p>
          <a:p>
            <a:pPr indent="-3873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b="1" lang="en-PH" sz="2500">
                <a:solidFill>
                  <a:schemeClr val="dk1"/>
                </a:solidFill>
              </a:rPr>
              <a:t>Action Logic:</a:t>
            </a:r>
            <a:r>
              <a:rPr lang="en-PH" sz="2500">
                <a:solidFill>
                  <a:schemeClr val="dk1"/>
                </a:solidFill>
              </a:rPr>
              <a:t> Verification of section code for confirmation of destructive action.</a:t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PH" sz="2500">
                <a:solidFill>
                  <a:schemeClr val="dk1"/>
                </a:solidFill>
              </a:rPr>
              <a:t>Academic Performance (Student)</a:t>
            </a:r>
            <a:endParaRPr b="1" sz="2500">
              <a:solidFill>
                <a:schemeClr val="dk1"/>
              </a:solidFill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b="1" lang="en-PH" sz="2500">
                <a:solidFill>
                  <a:schemeClr val="dk1"/>
                </a:solidFill>
              </a:rPr>
              <a:t>GPA / GWA Summary</a:t>
            </a:r>
            <a:endParaRPr b="1" sz="2500">
              <a:solidFill>
                <a:schemeClr val="dk1"/>
              </a:solidFill>
            </a:endParaRPr>
          </a:p>
          <a:p>
            <a:pPr indent="-3873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b="1" lang="en-PH" sz="2500">
                <a:solidFill>
                  <a:schemeClr val="dk1"/>
                </a:solidFill>
              </a:rPr>
              <a:t>Logic:</a:t>
            </a:r>
            <a:r>
              <a:rPr lang="en-PH" sz="2500">
                <a:solidFill>
                  <a:schemeClr val="dk1"/>
                </a:solidFill>
              </a:rPr>
              <a:t> Weighted average aggregation using predefined category multipliers (Quiz, Exam, Project).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b="1" lang="en-PH" sz="2500">
                <a:solidFill>
                  <a:schemeClr val="dk1"/>
                </a:solidFill>
              </a:rPr>
              <a:t>Assessment Visibility</a:t>
            </a:r>
            <a:endParaRPr b="1" sz="2500">
              <a:solidFill>
                <a:schemeClr val="dk1"/>
              </a:solidFill>
            </a:endParaRPr>
          </a:p>
          <a:p>
            <a:pPr indent="-3873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b="1" lang="en-PH" sz="2500">
                <a:solidFill>
                  <a:schemeClr val="dk1"/>
                </a:solidFill>
              </a:rPr>
              <a:t>Logic:</a:t>
            </a:r>
            <a:r>
              <a:rPr lang="en-PH" sz="2500">
                <a:solidFill>
                  <a:schemeClr val="dk1"/>
                </a:solidFill>
              </a:rPr>
              <a:t> Automatic exclusion of assessments with "Pending" status from performance analytics.</a:t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PH" sz="2500">
                <a:solidFill>
                  <a:schemeClr val="dk1"/>
                </a:solidFill>
              </a:rPr>
              <a:t>Broadcast Center (Admin)</a:t>
            </a:r>
            <a:endParaRPr b="1" sz="2500">
              <a:solidFill>
                <a:schemeClr val="dk1"/>
              </a:solidFill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b="1" lang="en-PH" sz="2500">
                <a:solidFill>
                  <a:schemeClr val="dk1"/>
                </a:solidFill>
              </a:rPr>
              <a:t>Target Audience</a:t>
            </a:r>
            <a:endParaRPr b="1" sz="2500">
              <a:solidFill>
                <a:schemeClr val="dk1"/>
              </a:solidFill>
            </a:endParaRPr>
          </a:p>
          <a:p>
            <a:pPr indent="-3873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b="1" lang="en-PH" sz="2500">
                <a:solidFill>
                  <a:schemeClr val="dk1"/>
                </a:solidFill>
              </a:rPr>
              <a:t>Logic:</a:t>
            </a:r>
            <a:r>
              <a:rPr lang="en-PH" sz="2500">
                <a:solidFill>
                  <a:schemeClr val="dk1"/>
                </a:solidFill>
              </a:rPr>
              <a:t> Selective visibility filtering for Teachers, Students, or Everyone.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b="1" lang="en-PH" sz="2500">
                <a:solidFill>
                  <a:schemeClr val="dk1"/>
                </a:solidFill>
              </a:rPr>
              <a:t>Priority Level</a:t>
            </a:r>
            <a:endParaRPr b="1" sz="2500">
              <a:solidFill>
                <a:schemeClr val="dk1"/>
              </a:solidFill>
            </a:endParaRPr>
          </a:p>
          <a:p>
            <a:pPr indent="-3873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b="1" lang="en-PH" sz="2500">
                <a:solidFill>
                  <a:schemeClr val="dk1"/>
                </a:solidFill>
              </a:rPr>
              <a:t>Logic:</a:t>
            </a:r>
            <a:r>
              <a:rPr lang="en-PH" sz="2500">
                <a:solidFill>
                  <a:schemeClr val="dk1"/>
                </a:solidFill>
              </a:rPr>
              <a:t> Visual highlighting and persistent pinning for "High Priority" notices.</a:t>
            </a:r>
            <a:endParaRPr sz="2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"/>
          <p:cNvSpPr txBox="1"/>
          <p:nvPr>
            <p:ph idx="2" type="body"/>
          </p:nvPr>
        </p:nvSpPr>
        <p:spPr>
          <a:xfrm>
            <a:off x="533400" y="203200"/>
            <a:ext cx="22174200" cy="12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0"/>
              <a:buNone/>
            </a:pPr>
            <a:r>
              <a:rPr lang="en-PH"/>
              <a:t>1.0 </a:t>
            </a:r>
            <a:r>
              <a:rPr i="1" lang="en-PH"/>
              <a:t>Screen Name Fields</a:t>
            </a:r>
            <a:endParaRPr/>
          </a:p>
        </p:txBody>
      </p:sp>
      <p:sp>
        <p:nvSpPr>
          <p:cNvPr id="181" name="Google Shape;181;p7"/>
          <p:cNvSpPr/>
          <p:nvPr/>
        </p:nvSpPr>
        <p:spPr>
          <a:xfrm>
            <a:off x="11990070" y="1249838"/>
            <a:ext cx="13308330" cy="2598262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300" lIns="182875" spcFirstLastPara="1" rIns="182875" wrap="square" tIns="182875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PH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Logic statements should be short and concise.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PH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As much as possible, use phrases, not sentences to limit the use of words.</a:t>
            </a:r>
            <a:endParaRPr/>
          </a:p>
          <a:p>
            <a:pPr indent="0" lvl="0" marL="0" marR="0" rtl="0" algn="l">
              <a:lnSpc>
                <a:spcPct val="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PH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Special logic and abnormal scenarios/cases shall be indicated.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PH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need to indicate common sense and self explanatory logic / cases anymore. 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2" name="Google Shape;182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0850" y="4357225"/>
            <a:ext cx="18278700" cy="500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dc4f193950_0_47"/>
          <p:cNvSpPr txBox="1"/>
          <p:nvPr>
            <p:ph idx="2" type="body"/>
          </p:nvPr>
        </p:nvSpPr>
        <p:spPr>
          <a:xfrm>
            <a:off x="533400" y="203200"/>
            <a:ext cx="22174200" cy="128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0"/>
              <a:buNone/>
            </a:pPr>
            <a:r>
              <a:rPr lang="en-PH"/>
              <a:t>1.0 </a:t>
            </a:r>
            <a:r>
              <a:rPr i="1" lang="en-PH"/>
              <a:t>Screen Name Fields</a:t>
            </a:r>
            <a:endParaRPr/>
          </a:p>
        </p:txBody>
      </p:sp>
      <p:sp>
        <p:nvSpPr>
          <p:cNvPr id="188" name="Google Shape;188;g3dc4f193950_0_47"/>
          <p:cNvSpPr/>
          <p:nvPr/>
        </p:nvSpPr>
        <p:spPr>
          <a:xfrm>
            <a:off x="11990070" y="1249838"/>
            <a:ext cx="13308300" cy="2598300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300" lIns="182875" spcFirstLastPara="1" rIns="182875" wrap="square" tIns="182875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PH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Logic statements should be short and concise.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PH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As much as possible, use phrases, not sentences to limit the use of words.</a:t>
            </a:r>
            <a:endParaRPr/>
          </a:p>
          <a:p>
            <a:pPr indent="0" lvl="0" marL="0" marR="0" rtl="0" algn="l">
              <a:lnSpc>
                <a:spcPct val="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PH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Special logic and abnormal scenarios/cases shall be indicated.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PH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need to indicate common sense and self explanatory logic / cases anymore. 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9" name="Google Shape;189;g3dc4f193950_0_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0850" y="4357225"/>
            <a:ext cx="18278700" cy="500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g3dc4f193950_0_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0850" y="4357225"/>
            <a:ext cx="18278699" cy="49136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dc4f193950_0_55"/>
          <p:cNvSpPr txBox="1"/>
          <p:nvPr>
            <p:ph idx="2" type="body"/>
          </p:nvPr>
        </p:nvSpPr>
        <p:spPr>
          <a:xfrm>
            <a:off x="533400" y="203200"/>
            <a:ext cx="22174200" cy="128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0"/>
              <a:buNone/>
            </a:pPr>
            <a:r>
              <a:rPr lang="en-PH"/>
              <a:t>1.0 </a:t>
            </a:r>
            <a:r>
              <a:rPr i="1" lang="en-PH"/>
              <a:t>Screen Name Fields</a:t>
            </a:r>
            <a:endParaRPr/>
          </a:p>
        </p:txBody>
      </p:sp>
      <p:sp>
        <p:nvSpPr>
          <p:cNvPr id="196" name="Google Shape;196;g3dc4f193950_0_55"/>
          <p:cNvSpPr/>
          <p:nvPr/>
        </p:nvSpPr>
        <p:spPr>
          <a:xfrm>
            <a:off x="11990070" y="1249838"/>
            <a:ext cx="13308300" cy="2598300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300" lIns="182875" spcFirstLastPara="1" rIns="182875" wrap="square" tIns="182875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PH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Logic statements should be short and concise.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PH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As much as possible, use phrases, not sentences to limit the use of words.</a:t>
            </a:r>
            <a:endParaRPr/>
          </a:p>
          <a:p>
            <a:pPr indent="0" lvl="0" marL="0" marR="0" rtl="0" algn="l">
              <a:lnSpc>
                <a:spcPct val="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PH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Special logic and abnormal scenarios/cases shall be indicated.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PH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need to indicate common sense and self explanatory logic / cases anymore. 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7" name="Google Shape;197;g3dc4f193950_0_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0850" y="4357225"/>
            <a:ext cx="18278700" cy="500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g3dc4f193950_0_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0850" y="4357225"/>
            <a:ext cx="18278699" cy="49136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g3dc4f193950_0_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20850" y="4357225"/>
            <a:ext cx="18934434" cy="500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dc4f193950_0_62"/>
          <p:cNvSpPr txBox="1"/>
          <p:nvPr>
            <p:ph idx="2" type="body"/>
          </p:nvPr>
        </p:nvSpPr>
        <p:spPr>
          <a:xfrm>
            <a:off x="533400" y="203200"/>
            <a:ext cx="22174200" cy="128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0"/>
              <a:buNone/>
            </a:pPr>
            <a:r>
              <a:rPr lang="en-PH"/>
              <a:t>1.0 </a:t>
            </a:r>
            <a:r>
              <a:rPr i="1" lang="en-PH"/>
              <a:t>Screen Name Fields</a:t>
            </a:r>
            <a:endParaRPr/>
          </a:p>
        </p:txBody>
      </p:sp>
      <p:sp>
        <p:nvSpPr>
          <p:cNvPr id="205" name="Google Shape;205;g3dc4f193950_0_62"/>
          <p:cNvSpPr/>
          <p:nvPr/>
        </p:nvSpPr>
        <p:spPr>
          <a:xfrm>
            <a:off x="11990070" y="1249838"/>
            <a:ext cx="13308300" cy="2598300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300" lIns="182875" spcFirstLastPara="1" rIns="182875" wrap="square" tIns="182875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PH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Logic statements should be short and concise.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PH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As much as possible, use phrases, not sentences to limit the use of words.</a:t>
            </a:r>
            <a:endParaRPr/>
          </a:p>
          <a:p>
            <a:pPr indent="0" lvl="0" marL="0" marR="0" rtl="0" algn="l">
              <a:lnSpc>
                <a:spcPct val="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PH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Special logic and abnormal scenarios/cases shall be indicated.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PH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need to indicate common sense and self explanatory logic / cases anymore. 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6" name="Google Shape;206;g3dc4f193950_0_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0850" y="4357225"/>
            <a:ext cx="18278700" cy="500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g3dc4f193950_0_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0850" y="4357225"/>
            <a:ext cx="18278699" cy="491362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g3dc4f193950_0_6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20850" y="4357225"/>
            <a:ext cx="18426025" cy="5264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9920" y="-42480"/>
            <a:ext cx="23510160" cy="1380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8</vt:i4>
  </property>
  <property fmtid="{D5CDD505-2E9C-101B-9397-08002B2CF9AE}" pid="8" name="PresentationFormat">
    <vt:lpwstr>Custom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8</vt:i4>
  </property>
</Properties>
</file>